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8" r:id="rId3"/>
    <p:sldId id="272" r:id="rId4"/>
    <p:sldId id="273" r:id="rId5"/>
    <p:sldId id="271" r:id="rId6"/>
    <p:sldId id="266" r:id="rId7"/>
    <p:sldId id="269" r:id="rId8"/>
    <p:sldId id="270" r:id="rId9"/>
    <p:sldId id="267" r:id="rId10"/>
  </p:sldIdLst>
  <p:sldSz cx="13439775" cy="7559675"/>
  <p:notesSz cx="7559675" cy="10691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99"/>
    <a:srgbClr val="BD03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Темный стиль 2 —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6269A2-240D-64FA-E25A-96C1DC2FB04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85AAADB-6C98-93A1-EC9D-AA1534C74955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426D42-4E3B-3B40-C773-351786473B5F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="b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5C99970-E15F-6FFF-92C8-F5C8CC178249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="b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3F6F9542-8CE3-495A-B6A7-A9780BECAC79}" type="slidenum">
              <a:t>‹#›</a:t>
            </a:fld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8074259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1EA2FBC-25B4-9258-AE33-51C76EFD4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0D6C8C6-BD58-239A-8920-40EBA8332F50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zxx-none"/>
          </a:p>
        </p:txBody>
      </p:sp>
      <p:sp>
        <p:nvSpPr>
          <p:cNvPr id="4" name="Верхний колонтитул 3">
            <a:extLst>
              <a:ext uri="{FF2B5EF4-FFF2-40B4-BE49-F238E27FC236}">
                <a16:creationId xmlns:a16="http://schemas.microsoft.com/office/drawing/2014/main" id="{F092B5DB-00B0-B6D6-655A-DD6C5127E9E6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lvl="0" rtl="0" hangingPunct="0">
              <a:buNone/>
              <a:tabLst/>
              <a:defRPr lang="zx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zxx-none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41EABE-B2D9-2C5F-AAA2-ADBBFC39A371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lvl="0" algn="r" rtl="0" hangingPunct="0">
              <a:buNone/>
              <a:tabLst/>
              <a:defRPr lang="zx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zxx-non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F52719-5B7A-9281-0C00-7E14DA7F99A0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>
            <a:lvl1pPr lvl="0" rtl="0" hangingPunct="0">
              <a:buNone/>
              <a:tabLst/>
              <a:defRPr lang="zx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zxx-non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68EF90-A73C-0A6D-2A5E-87E4DC0C7AF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>
            <a:lvl1pPr lvl="0" algn="r" rtl="0" hangingPunct="0">
              <a:buNone/>
              <a:tabLst/>
              <a:defRPr lang="zx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301303DC-EEF7-4800-A2CD-ACF26B06E590}" type="slidenum">
              <a:t>‹#›</a:t>
            </a:fld>
            <a:endParaRPr lang="zxx-none"/>
          </a:p>
        </p:txBody>
      </p:sp>
    </p:spTree>
    <p:extLst>
      <p:ext uri="{BB962C8B-B14F-4D97-AF65-F5344CB8AC3E}">
        <p14:creationId xmlns:p14="http://schemas.microsoft.com/office/powerpoint/2010/main" val="3784157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zxx-none" sz="2000" b="0" i="0" u="none" strike="noStrike" kern="1200">
        <a:ln>
          <a:noFill/>
        </a:ln>
        <a:latin typeface="Arial" pitchFamily="18"/>
        <a:cs typeface="Tahoma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A4D2B5-D361-C1C3-0DF4-F63273518E2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9E2D916D-E8EC-4A63-A327-6A815929E8E9}" type="slidenum">
              <a:t>1</a:t>
            </a:fld>
            <a:endParaRPr lang="zxx-none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BC4699E-C2FD-AABF-8B54-8B0EBEB889F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EF4E1A3-D1DA-4938-0ABA-29C6180F5A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400"/>
          </a:xfrm>
        </p:spPr>
        <p:txBody>
          <a:bodyPr>
            <a:spAutoFit/>
          </a:bodyPr>
          <a:lstStyle/>
          <a:p>
            <a:endParaRPr lang="zxx-non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301303DC-EEF7-4800-A2CD-ACF26B06E59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051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972" y="1237197"/>
            <a:ext cx="1007983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972" y="3970580"/>
            <a:ext cx="10079831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F8FA6E8-0A24-493C-875B-35E44ECF58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136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05E3B25-82FC-4197-BA48-64C203CF63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212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85" y="1884670"/>
            <a:ext cx="11591806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85" y="5059034"/>
            <a:ext cx="11591806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DE6EC92-4A05-4308-ADBC-6B56F6EED2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133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985" y="2012414"/>
            <a:ext cx="5711904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886" y="2012414"/>
            <a:ext cx="5711904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0E6E119-F208-4C99-ABC1-D31747149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10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5" y="402483"/>
            <a:ext cx="11591806" cy="1461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736" y="1853171"/>
            <a:ext cx="5685654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736" y="2761381"/>
            <a:ext cx="5685654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3886" y="1853171"/>
            <a:ext cx="5713655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3886" y="2761381"/>
            <a:ext cx="5713655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90BB3BD-16DA-41DA-BDA3-3A19114FC7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59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5B708E-629A-488F-B0C7-CD194DB9C3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96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2AA91D0-0906-4220-8247-D445DAE537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5075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655" y="1088454"/>
            <a:ext cx="6803886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27589D9-2874-4704-8B79-8F82A86714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03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3655" y="1088454"/>
            <a:ext cx="6803886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F30A446-1E20-44B2-83F3-D9921D39B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197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83E2582-9D20-48B3-A3FA-E9AA81AC23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149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7839" y="402483"/>
            <a:ext cx="2897951" cy="64064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985" y="402483"/>
            <a:ext cx="8525857" cy="64064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x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D8BE3EB-8A66-4561-AC8F-74B5D4BFF1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525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zx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zx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F0DD1DD8-944E-419F-9DD7-C733C4FB44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926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644E3FE-A899-D82A-71BA-440657B7101B}"/>
              </a:ext>
            </a:extLst>
          </p:cNvPr>
          <p:cNvGrpSpPr/>
          <p:nvPr/>
        </p:nvGrpSpPr>
        <p:grpSpPr>
          <a:xfrm>
            <a:off x="4683047" y="1172581"/>
            <a:ext cx="4004744" cy="2312366"/>
            <a:chOff x="4600544" y="2241555"/>
            <a:chExt cx="5063101" cy="3044297"/>
          </a:xfrm>
        </p:grpSpPr>
        <p:sp>
          <p:nvSpPr>
            <p:cNvPr id="3" name="Прямоугольник: скругленные углы 2">
              <a:extLst>
                <a:ext uri="{FF2B5EF4-FFF2-40B4-BE49-F238E27FC236}">
                  <a16:creationId xmlns:a16="http://schemas.microsoft.com/office/drawing/2014/main" id="{EFE979CA-56F2-0685-7F7D-798E1820CB6C}"/>
                </a:ext>
              </a:extLst>
            </p:cNvPr>
            <p:cNvSpPr/>
            <p:nvPr/>
          </p:nvSpPr>
          <p:spPr>
            <a:xfrm>
              <a:off x="4600544" y="2241555"/>
              <a:ext cx="5063101" cy="304429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5A7AA0E-D5D3-A331-92E4-538381D4C0EA}"/>
                </a:ext>
              </a:extLst>
            </p:cNvPr>
            <p:cNvSpPr txBox="1"/>
            <p:nvPr/>
          </p:nvSpPr>
          <p:spPr>
            <a:xfrm>
              <a:off x="5042207" y="2748676"/>
              <a:ext cx="4179777" cy="1940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ЦЕНТР</a:t>
              </a:r>
            </a:p>
            <a:p>
              <a:pPr algn="ctr"/>
              <a:r>
                <a:rPr lang="ru-RU" sz="2400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ДИАГНОСТИКИ</a:t>
              </a:r>
            </a:p>
            <a:p>
              <a:pPr algn="ctr"/>
              <a:r>
                <a:rPr lang="ru-RU" sz="2400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И ПРАКТИЧЕСКИХ </a:t>
              </a:r>
            </a:p>
            <a:p>
              <a:pPr algn="ctr"/>
              <a:r>
                <a:rPr lang="ru-RU" sz="2400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РЕШЕНИЙ</a:t>
              </a:r>
            </a:p>
          </p:txBody>
        </p:sp>
      </p:grp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91D7A9B-EAE7-A111-8CC7-B19AD2F857AA}"/>
              </a:ext>
            </a:extLst>
          </p:cNvPr>
          <p:cNvCxnSpPr>
            <a:cxnSpLocks/>
          </p:cNvCxnSpPr>
          <p:nvPr/>
        </p:nvCxnSpPr>
        <p:spPr>
          <a:xfrm flipH="1">
            <a:off x="3759200" y="3512459"/>
            <a:ext cx="917478" cy="7256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527CC4E2-31B7-0F99-D102-31685ED51392}"/>
              </a:ext>
            </a:extLst>
          </p:cNvPr>
          <p:cNvCxnSpPr>
            <a:cxnSpLocks/>
          </p:cNvCxnSpPr>
          <p:nvPr/>
        </p:nvCxnSpPr>
        <p:spPr>
          <a:xfrm>
            <a:off x="8681422" y="3512459"/>
            <a:ext cx="999151" cy="7256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999C8B0D-D472-589C-858E-C646826D643E}"/>
              </a:ext>
            </a:extLst>
          </p:cNvPr>
          <p:cNvCxnSpPr>
            <a:cxnSpLocks/>
          </p:cNvCxnSpPr>
          <p:nvPr/>
        </p:nvCxnSpPr>
        <p:spPr>
          <a:xfrm>
            <a:off x="6746490" y="3634180"/>
            <a:ext cx="0" cy="6039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011647E-93C4-CA1D-2F4D-4FC56FEC0C82}"/>
              </a:ext>
            </a:extLst>
          </p:cNvPr>
          <p:cNvSpPr/>
          <p:nvPr/>
        </p:nvSpPr>
        <p:spPr>
          <a:xfrm>
            <a:off x="1000459" y="203391"/>
            <a:ext cx="11651088" cy="725657"/>
          </a:xfrm>
          <a:prstGeom prst="roundRect">
            <a:avLst/>
          </a:prstGeom>
          <a:solidFill>
            <a:schemeClr val="bg2"/>
          </a:solidFill>
          <a:ln w="1905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FF0000"/>
                </a:solidFill>
              </a:rPr>
              <a:t>СТРАТЕГИЯ / ТРАНСФОРМАЦИЯ / ЦИФРЫ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6B0CCD63-57F6-A168-8C69-78DA8E13E652}"/>
              </a:ext>
            </a:extLst>
          </p:cNvPr>
          <p:cNvSpPr/>
          <p:nvPr/>
        </p:nvSpPr>
        <p:spPr>
          <a:xfrm>
            <a:off x="1503017" y="4455075"/>
            <a:ext cx="2740281" cy="25911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r>
              <a:rPr lang="ru-RU" dirty="0">
                <a:solidFill>
                  <a:srgbClr val="FF0000"/>
                </a:solidFill>
              </a:rPr>
              <a:t>ПРО ПРЕДПРИЯТИЕ</a:t>
            </a:r>
          </a:p>
        </p:txBody>
      </p:sp>
      <p:pic>
        <p:nvPicPr>
          <p:cNvPr id="7" name="Рисунок 6" descr="Деньги">
            <a:extLst>
              <a:ext uri="{FF2B5EF4-FFF2-40B4-BE49-F238E27FC236}">
                <a16:creationId xmlns:a16="http://schemas.microsoft.com/office/drawing/2014/main" id="{761FDBD0-0C88-3C4A-6031-688115CD4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8463" y="4670622"/>
            <a:ext cx="1847018" cy="1847018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22AF44A-2A24-D0ED-3865-CEFB70167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04749" y="4735437"/>
            <a:ext cx="1570574" cy="157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вал 11">
            <a:extLst>
              <a:ext uri="{FF2B5EF4-FFF2-40B4-BE49-F238E27FC236}">
                <a16:creationId xmlns:a16="http://schemas.microsoft.com/office/drawing/2014/main" id="{C817D5AB-F5FA-77F2-A42B-81AAE6AC8FF2}"/>
              </a:ext>
            </a:extLst>
          </p:cNvPr>
          <p:cNvSpPr/>
          <p:nvPr/>
        </p:nvSpPr>
        <p:spPr>
          <a:xfrm>
            <a:off x="5305256" y="4459022"/>
            <a:ext cx="2829261" cy="259736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r>
              <a:rPr lang="ru-RU" dirty="0">
                <a:solidFill>
                  <a:srgbClr val="FF0000"/>
                </a:solidFill>
              </a:rPr>
              <a:t>ПРО ЧЕЛОВЕКА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CACE7D40-2985-D5E4-4C73-32EBDC0FB92B}"/>
              </a:ext>
            </a:extLst>
          </p:cNvPr>
          <p:cNvSpPr/>
          <p:nvPr/>
        </p:nvSpPr>
        <p:spPr>
          <a:xfrm>
            <a:off x="9596898" y="4448893"/>
            <a:ext cx="2740281" cy="259736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endParaRPr lang="ru-RU" dirty="0">
              <a:solidFill>
                <a:srgbClr val="FF0000"/>
              </a:solidFill>
            </a:endParaRPr>
          </a:p>
          <a:p>
            <a:pPr algn="ctr"/>
            <a:r>
              <a:rPr lang="ru-RU" dirty="0">
                <a:solidFill>
                  <a:srgbClr val="FF0000"/>
                </a:solidFill>
              </a:rPr>
              <a:t>ПРО ЭФФЕКТИВНОСТЬ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89C248B3-931E-EAF3-2A52-EF12438DC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3659" y="4708086"/>
            <a:ext cx="1377777" cy="1469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ED9C5AF-453C-50BD-A6C9-6316BAAC1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97521"/>
              </p:ext>
            </p:extLst>
          </p:nvPr>
        </p:nvGraphicFramePr>
        <p:xfrm>
          <a:off x="1163562" y="544375"/>
          <a:ext cx="11112649" cy="605353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70715">
                  <a:extLst>
                    <a:ext uri="{9D8B030D-6E8A-4147-A177-3AD203B41FA5}">
                      <a16:colId xmlns:a16="http://schemas.microsoft.com/office/drawing/2014/main" val="2331793174"/>
                    </a:ext>
                  </a:extLst>
                </a:gridCol>
                <a:gridCol w="8341934">
                  <a:extLst>
                    <a:ext uri="{9D8B030D-6E8A-4147-A177-3AD203B41FA5}">
                      <a16:colId xmlns:a16="http://schemas.microsoft.com/office/drawing/2014/main" val="1565348848"/>
                    </a:ext>
                  </a:extLst>
                </a:gridCol>
              </a:tblGrid>
              <a:tr h="980726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Кто мы такие и чем полезны</a:t>
                      </a:r>
                      <a:endParaRPr lang="ru-RU" dirty="0"/>
                    </a:p>
                  </a:txBody>
                  <a:tcPr anchor="ctr"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Мы помогаем производственным и сервисным компаниям </a:t>
                      </a:r>
                    </a:p>
                    <a:p>
                      <a:pPr algn="l"/>
                      <a:r>
                        <a:rPr lang="ru-RU" b="1" dirty="0"/>
                        <a:t>выходить из кризиса, расти и наводить порядок там, где раньше был хаос</a:t>
                      </a:r>
                      <a:endParaRPr lang="ru-RU" dirty="0"/>
                    </a:p>
                  </a:txBody>
                  <a:tcPr anchor="ctr"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667978152"/>
                  </a:ext>
                </a:extLst>
              </a:tr>
              <a:tr h="1144506">
                <a:tc rowSpan="4">
                  <a:txBody>
                    <a:bodyPr/>
                    <a:lstStyle/>
                    <a:p>
                      <a:pPr algn="r"/>
                      <a:r>
                        <a:rPr lang="ru-RU" b="1" dirty="0"/>
                        <a:t>Что умеем по финансам и производству</a:t>
                      </a:r>
                      <a:endParaRPr lang="ru-RU" dirty="0"/>
                    </a:p>
                  </a:txBody>
                  <a:tcPr anchor="ctr"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</a:pPr>
                      <a:r>
                        <a:rPr lang="ru-RU" b="0" i="1" dirty="0"/>
                        <a:t>Найти, где бизнес теряет деньги. Проходим всю цепочку: закупки — склады — производство — продажи. Показываем реальную картину, а не ту, что в отчетах</a:t>
                      </a: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706749829"/>
                  </a:ext>
                </a:extLst>
              </a:tr>
              <a:tr h="1086905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ru-RU" b="0" i="1" dirty="0"/>
                        <a:t>Привлечь дешевые деньги: льготные кредиты, субсидии, гранты. Умеем получать поддержку от государства, когда кажется, что «нам не дадут»</a:t>
                      </a: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725650711"/>
                  </a:ext>
                </a:extLst>
              </a:tr>
              <a:tr h="844199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</a:pPr>
                      <a:r>
                        <a:rPr lang="ru-RU" b="0" i="1" dirty="0"/>
                        <a:t>Запустить производство в Узбекистане или контрактное — с китайскими партнерами. Знаем процедуры, людей и риски на местах</a:t>
                      </a: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78387427"/>
                  </a:ext>
                </a:extLst>
              </a:tr>
              <a:tr h="683752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</a:pPr>
                      <a:r>
                        <a:rPr lang="ru-RU" b="0" i="1" dirty="0"/>
                        <a:t>Находить нестандартные решения, когда денег мало, а результат нужен вчера</a:t>
                      </a: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628396491"/>
                  </a:ext>
                </a:extLst>
              </a:tr>
              <a:tr h="1277700"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Чем можем подтвердить</a:t>
                      </a: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</a:pPr>
                      <a:r>
                        <a:rPr lang="ru-RU" b="0" i="1" dirty="0"/>
                        <a:t>Опыт подтвержден грамотами Губернатора и Заксобрания;</a:t>
                      </a:r>
                    </a:p>
                    <a:p>
                      <a:pPr marL="342900" indent="-342900"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</a:pPr>
                      <a:r>
                        <a:rPr lang="ru-RU" b="0" i="1" dirty="0"/>
                        <a:t>Работали с российскими и иностранными собственниками;</a:t>
                      </a:r>
                    </a:p>
                    <a:p>
                      <a:pPr marL="342900" indent="-342900"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</a:pPr>
                      <a:r>
                        <a:rPr lang="ru-RU" b="0" i="1" dirty="0"/>
                        <a:t>Итоги реализованных проектов отражены в письмах т благодарностях</a:t>
                      </a: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321972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821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A0D53-38AD-8BE6-673A-CB6A0EE4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744DA6F4-3615-DD62-3295-76514D466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344814"/>
              </p:ext>
            </p:extLst>
          </p:nvPr>
        </p:nvGraphicFramePr>
        <p:xfrm>
          <a:off x="1237044" y="646639"/>
          <a:ext cx="11352959" cy="626639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52080">
                  <a:extLst>
                    <a:ext uri="{9D8B030D-6E8A-4147-A177-3AD203B41FA5}">
                      <a16:colId xmlns:a16="http://schemas.microsoft.com/office/drawing/2014/main" val="2331793174"/>
                    </a:ext>
                  </a:extLst>
                </a:gridCol>
                <a:gridCol w="8300879">
                  <a:extLst>
                    <a:ext uri="{9D8B030D-6E8A-4147-A177-3AD203B41FA5}">
                      <a16:colId xmlns:a16="http://schemas.microsoft.com/office/drawing/2014/main" val="1565348848"/>
                    </a:ext>
                  </a:extLst>
                </a:gridCol>
              </a:tblGrid>
              <a:tr h="394297">
                <a:tc rowSpan="5">
                  <a:txBody>
                    <a:bodyPr/>
                    <a:lstStyle/>
                    <a:p>
                      <a:pPr algn="r"/>
                      <a:r>
                        <a:rPr lang="ru-RU" b="1" dirty="0"/>
                        <a:t>Что умеем по людям </a:t>
                      </a:r>
                    </a:p>
                    <a:p>
                      <a:pPr algn="r"/>
                      <a:r>
                        <a:rPr lang="ru-RU" b="1" dirty="0"/>
                        <a:t>и команде</a:t>
                      </a:r>
                      <a:endParaRPr lang="ru-RU" dirty="0"/>
                    </a:p>
                  </a:txBody>
                  <a:tcPr anchor="ctr"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Clr>
                          <a:schemeClr val="accent5">
                            <a:lumMod val="50000"/>
                          </a:schemeClr>
                        </a:buClr>
                        <a:buFont typeface="Courier New" panose="02070309020205020404" pitchFamily="49" charset="0"/>
                        <a:buChar char="o"/>
                      </a:pPr>
                      <a:r>
                        <a:rPr lang="ru-RU" b="0" i="1" dirty="0"/>
                        <a:t>Связать людей и деньги. Считаем прибыль на сотрудника, убираем раздутые штаты, показываем, кто реально окупается, а кто — балласт</a:t>
                      </a:r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88063428"/>
                  </a:ext>
                </a:extLst>
              </a:tr>
              <a:tr h="39429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Clr>
                          <a:schemeClr val="accent5">
                            <a:lumMod val="50000"/>
                          </a:schemeClr>
                        </a:buClr>
                        <a:buFont typeface="Courier New" panose="02070309020205020404" pitchFamily="49" charset="0"/>
                        <a:buChar char="o"/>
                      </a:pPr>
                      <a:r>
                        <a:rPr lang="ru-RU" b="0" i="1" dirty="0"/>
                        <a:t>Выстроить HR-систему, которая работает на цели бизнеса, а не ради галочек: подбор, зарплаты, оргструктура, обучение, культура</a:t>
                      </a:r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685978825"/>
                  </a:ext>
                </a:extLst>
              </a:tr>
              <a:tr h="39429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Clr>
                          <a:schemeClr val="accent5">
                            <a:lumMod val="50000"/>
                          </a:schemeClr>
                        </a:buClr>
                        <a:buFont typeface="Courier New" panose="02070309020205020404" pitchFamily="49" charset="0"/>
                        <a:buChar char="o"/>
                      </a:pPr>
                      <a:r>
                        <a:rPr lang="ru-RU" b="0" i="1" dirty="0"/>
                        <a:t>Навести порядок в документах, чтобы не бояться проверок и судов (трудовое право, компенсации, оформление)</a:t>
                      </a:r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62562925"/>
                  </a:ext>
                </a:extLst>
              </a:tr>
              <a:tr h="39429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Clr>
                          <a:schemeClr val="accent5">
                            <a:lumMod val="50000"/>
                          </a:schemeClr>
                        </a:buClr>
                        <a:buFont typeface="Courier New" panose="02070309020205020404" pitchFamily="49" charset="0"/>
                        <a:buChar char="o"/>
                      </a:pPr>
                      <a:r>
                        <a:rPr lang="ru-RU" b="0" i="1" dirty="0"/>
                        <a:t>Работать с выгоранием топ-команды: когда ключевые люди теряют мотивацию и смысл, возвращаем их в рабочее состояние</a:t>
                      </a:r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363628801"/>
                  </a:ext>
                </a:extLst>
              </a:tr>
              <a:tr h="39429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Clr>
                          <a:schemeClr val="accent5">
                            <a:lumMod val="50000"/>
                          </a:schemeClr>
                        </a:buClr>
                        <a:buFont typeface="Courier New" panose="02070309020205020404" pitchFamily="49" charset="0"/>
                        <a:buChar char="o"/>
                      </a:pPr>
                      <a:r>
                        <a:rPr lang="ru-RU" b="0" i="1" dirty="0"/>
                        <a:t>Быть опорой для первых лиц — спокойно, системно, без лишнего шума</a:t>
                      </a:r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858966808"/>
                  </a:ext>
                </a:extLst>
              </a:tr>
              <a:tr h="394297">
                <a:tc rowSpan="4">
                  <a:txBody>
                    <a:bodyPr/>
                    <a:lstStyle/>
                    <a:p>
                      <a:pPr marL="0" marR="0" lvl="0" indent="0" algn="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Что умеем как диагносты</a:t>
                      </a:r>
                      <a:endParaRPr lang="ru-RU" dirty="0"/>
                    </a:p>
                  </a:txBody>
                  <a:tcPr anchor="ctr"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Clr>
                          <a:srgbClr val="00B05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ru-RU" b="0" i="1" dirty="0"/>
                        <a:t>Точно определить проблемную локацию в процессах и коммуникациях</a:t>
                      </a:r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637703179"/>
                  </a:ext>
                </a:extLst>
              </a:tr>
              <a:tr h="39429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Clr>
                          <a:srgbClr val="00B05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ru-RU" b="0" i="1" dirty="0"/>
                        <a:t>Провести глубинную диагностику личности собственника или топ-менеджера. Понять, какие личные ограничения мешают бизнесу</a:t>
                      </a:r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00398036"/>
                  </a:ext>
                </a:extLst>
              </a:tr>
              <a:tr h="39429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Clr>
                          <a:srgbClr val="00B05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ru-RU" b="0" i="1" dirty="0"/>
                        <a:t>Продиагностировать команду: где конфликты, кто не на своем месте, почему решения тормозятся</a:t>
                      </a:r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53158424"/>
                  </a:ext>
                </a:extLst>
              </a:tr>
              <a:tr h="39429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Clr>
                          <a:srgbClr val="00B05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ru-RU" b="0" i="1" dirty="0"/>
                        <a:t>Составить программу изменений и мягко внедрить её — без саботажа и потери ключевых людей</a:t>
                      </a:r>
                    </a:p>
                  </a:txBody>
                  <a:tcPr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599273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421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FCC4E-9EBD-F714-847A-ACC1D5C45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5A0F0DB-5B94-7E64-2DDD-ABAA86CA4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444937"/>
              </p:ext>
            </p:extLst>
          </p:nvPr>
        </p:nvGraphicFramePr>
        <p:xfrm>
          <a:off x="1043492" y="448530"/>
          <a:ext cx="11553712" cy="666261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06050">
                  <a:extLst>
                    <a:ext uri="{9D8B030D-6E8A-4147-A177-3AD203B41FA5}">
                      <a16:colId xmlns:a16="http://schemas.microsoft.com/office/drawing/2014/main" val="2331793174"/>
                    </a:ext>
                  </a:extLst>
                </a:gridCol>
                <a:gridCol w="8447662">
                  <a:extLst>
                    <a:ext uri="{9D8B030D-6E8A-4147-A177-3AD203B41FA5}">
                      <a16:colId xmlns:a16="http://schemas.microsoft.com/office/drawing/2014/main" val="1565348848"/>
                    </a:ext>
                  </a:extLst>
                </a:gridCol>
              </a:tblGrid>
              <a:tr h="394297">
                <a:tc rowSpan="7"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ru-RU" b="1" dirty="0"/>
                        <a:t>С какими проблемами </a:t>
                      </a:r>
                    </a:p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ru-RU" b="1" dirty="0"/>
                        <a:t>к нам приходят</a:t>
                      </a:r>
                      <a:endParaRPr lang="ru-RU" dirty="0"/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ru-RU" b="0" dirty="0"/>
                        <a:t>Прибыль есть, но деньги постоянно в кассовых разрывах — непонятно куда уходят</a:t>
                      </a:r>
                      <a:endParaRPr lang="ru-RU" b="0" i="1" dirty="0"/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88063428"/>
                  </a:ext>
                </a:extLst>
              </a:tr>
              <a:tr h="39429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ru-RU" b="0" dirty="0"/>
                        <a:t>Выручка растет, а маржинальность падает — масштабирование «съедает» доход</a:t>
                      </a:r>
                      <a:endParaRPr lang="ru-RU" b="0" i="1" dirty="0"/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685978825"/>
                  </a:ext>
                </a:extLst>
              </a:tr>
              <a:tr h="39429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ru-RU" b="0" dirty="0"/>
                        <a:t>Собственник хочет отойти от операционки, но некому передать управление</a:t>
                      </a:r>
                      <a:endParaRPr lang="ru-RU" b="0" i="1" dirty="0"/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62562925"/>
                  </a:ext>
                </a:extLst>
              </a:tr>
              <a:tr h="39429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ru-RU" b="0" dirty="0"/>
                        <a:t>Команда «не тащит»: инициативы ноль, текучка ключевых людей, саботаж изменений</a:t>
                      </a:r>
                      <a:endParaRPr lang="ru-RU" b="0" i="1" dirty="0"/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363628801"/>
                  </a:ext>
                </a:extLst>
              </a:tr>
              <a:tr h="39429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ru-RU" b="0" dirty="0"/>
                        <a:t>Бизнес перестал приносить драйв владельцу: «золотая клетка», непонятно куда двигаться дальше</a:t>
                      </a:r>
                      <a:endParaRPr lang="ru-RU" b="0" i="1" dirty="0"/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858966808"/>
                  </a:ext>
                </a:extLst>
              </a:tr>
              <a:tr h="394297">
                <a:tc vMerge="1">
                  <a:txBody>
                    <a:bodyPr/>
                    <a:lstStyle/>
                    <a:p>
                      <a:pPr marL="0" marR="0" lvl="0" indent="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 anchor="ctr"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ru-RU" b="0" dirty="0"/>
                        <a:t>Нужны новые рынки (Узбекистан, Китай, Африка, Ливия), но нет надежных партнеров и входа</a:t>
                      </a:r>
                      <a:endParaRPr lang="ru-RU" b="0" i="1" dirty="0"/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637703179"/>
                  </a:ext>
                </a:extLst>
              </a:tr>
              <a:tr h="39429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ru-RU" b="0" dirty="0"/>
                        <a:t>Хронический стресс и социальная изоляция первого лица: не с кем обсудить реальные проблемы</a:t>
                      </a:r>
                      <a:endParaRPr lang="ru-RU" b="0" i="1" dirty="0"/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00398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493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6138-6FC7-16C1-95B3-DED384CF1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6A7778-ECAB-EDCE-2BEE-BCD2A957BF3A}"/>
              </a:ext>
            </a:extLst>
          </p:cNvPr>
          <p:cNvSpPr txBox="1"/>
          <p:nvPr/>
        </p:nvSpPr>
        <p:spPr>
          <a:xfrm>
            <a:off x="1137855" y="2343900"/>
            <a:ext cx="615583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/>
              <a:t>Если ваша ситуация есть в любом из перечисленных пунктов - можем провести первую диагностику и показать, с чего начать </a:t>
            </a:r>
          </a:p>
          <a:p>
            <a:endParaRPr lang="ru-RU" sz="2400" i="1" dirty="0"/>
          </a:p>
          <a:p>
            <a:r>
              <a:rPr lang="ru-RU" sz="2400" i="1" dirty="0"/>
              <a:t>Без абстрактных советов, только то, что применимо к вашему бизнесу.</a:t>
            </a:r>
          </a:p>
          <a:p>
            <a:endParaRPr lang="ru-RU" sz="2400" i="1" dirty="0"/>
          </a:p>
          <a:p>
            <a:r>
              <a:rPr lang="ru-RU" sz="2400" i="1" dirty="0"/>
              <a:t>С уважением, команда </a:t>
            </a:r>
          </a:p>
          <a:p>
            <a:r>
              <a:rPr lang="ru-RU" sz="2400" i="1" dirty="0"/>
              <a:t>Центра диагностики и практических решений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710BA1-084A-5AE7-9B6F-C4D07F397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6680" y="1959157"/>
            <a:ext cx="4539727" cy="45397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0EF17D-3444-3480-E3FD-C5EAA5091583}"/>
              </a:ext>
            </a:extLst>
          </p:cNvPr>
          <p:cNvSpPr txBox="1"/>
          <p:nvPr/>
        </p:nvSpPr>
        <p:spPr>
          <a:xfrm>
            <a:off x="6502132" y="559397"/>
            <a:ext cx="62459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4000" b="1" dirty="0">
                <a:solidFill>
                  <a:srgbClr val="0070C0"/>
                </a:solidFill>
              </a:rPr>
              <a:t>Экспресс-диагностика </a:t>
            </a:r>
          </a:p>
          <a:p>
            <a:pPr algn="r"/>
            <a:r>
              <a:rPr lang="ru-RU" sz="4000" b="1" dirty="0">
                <a:solidFill>
                  <a:srgbClr val="0070C0"/>
                </a:solidFill>
              </a:rPr>
              <a:t>для прибыльного решения</a:t>
            </a:r>
          </a:p>
        </p:txBody>
      </p:sp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CEAB5A65-8E76-9258-0645-83513F826485}"/>
              </a:ext>
            </a:extLst>
          </p:cNvPr>
          <p:cNvSpPr/>
          <p:nvPr/>
        </p:nvSpPr>
        <p:spPr>
          <a:xfrm>
            <a:off x="2388198" y="3539266"/>
            <a:ext cx="4711849" cy="322729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737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F22519-BFFB-448E-BAB3-C22AC1694AA3}"/>
              </a:ext>
            </a:extLst>
          </p:cNvPr>
          <p:cNvSpPr txBox="1"/>
          <p:nvPr/>
        </p:nvSpPr>
        <p:spPr>
          <a:xfrm>
            <a:off x="4948216" y="216649"/>
            <a:ext cx="35433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0070C0"/>
                </a:solidFill>
              </a:rPr>
              <a:t>КОМАНДА ЦЕНТРА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BBBF36-7A8A-AA38-3DED-5FB115FCA9BA}"/>
              </a:ext>
            </a:extLst>
          </p:cNvPr>
          <p:cNvSpPr txBox="1"/>
          <p:nvPr/>
        </p:nvSpPr>
        <p:spPr>
          <a:xfrm>
            <a:off x="4718532" y="1118650"/>
            <a:ext cx="7422776" cy="5224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/>
              <a:t>ЛЮБОВЬ СИРОТКИНА</a:t>
            </a:r>
            <a:r>
              <a:rPr lang="ru-RU" sz="1600" dirty="0"/>
              <a:t> </a:t>
            </a:r>
          </a:p>
          <a:p>
            <a:pPr>
              <a:lnSpc>
                <a:spcPct val="150000"/>
              </a:lnSpc>
            </a:pPr>
            <a:r>
              <a:rPr lang="ru-RU" sz="1600" dirty="0"/>
              <a:t>управляющий директор, финансовый директор производственных компаний группы «</a:t>
            </a:r>
            <a:r>
              <a:rPr lang="ru-RU" sz="1600" dirty="0" err="1"/>
              <a:t>Аринс</a:t>
            </a:r>
            <a:r>
              <a:rPr lang="ru-RU" sz="1600" dirty="0"/>
              <a:t> Технолоджи»; «БАЗЭЛ»; Русполимет (до 2025 года)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/>
              <a:t>Из 16 проектов- 13 стали для собственников «курицами, несущими золотые яйца»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/>
              <a:t>Руководитель антикризисного направления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/>
              <a:t>Автор собственной методики, разработанной на базе механизмов трекинга школы Евгения Калинина и Теории ограничений </a:t>
            </a:r>
            <a:r>
              <a:rPr lang="ru-RU" sz="1600" dirty="0" err="1"/>
              <a:t>Голдратта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/>
              <a:t>Выстраивает систему, где стратегия, финансы и операционная деятельность - единый механизм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/>
              <a:t>Обеспечивает рост, финансовую устойчивость и прозрачность для собственника</a:t>
            </a:r>
          </a:p>
          <a:p>
            <a:pPr>
              <a:lnSpc>
                <a:spcPct val="150000"/>
              </a:lnSpc>
            </a:pPr>
            <a:r>
              <a:rPr lang="ru-RU" sz="1600" b="1" dirty="0"/>
              <a:t>Ценность эксперта: </a:t>
            </a:r>
          </a:p>
          <a:p>
            <a:pPr>
              <a:lnSpc>
                <a:spcPct val="150000"/>
              </a:lnSpc>
            </a:pPr>
            <a:r>
              <a:rPr lang="ru-RU" sz="1600" b="1" dirty="0"/>
              <a:t>обеспечивает рост бизнеса и повышение прибыльности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E098DA9-1DDD-4AB4-D612-9F1A25EB0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99" y="1118650"/>
            <a:ext cx="3481815" cy="522476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Рисунок 3" descr="Целевая аудитория">
            <a:extLst>
              <a:ext uri="{FF2B5EF4-FFF2-40B4-BE49-F238E27FC236}">
                <a16:creationId xmlns:a16="http://schemas.microsoft.com/office/drawing/2014/main" id="{14A69DB8-0493-CA15-71FA-B28E8D3DC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59376" y="2042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21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D78CF-C688-8A0B-355C-749D1C9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E5C247-9738-3441-2E20-F820F33900C5}"/>
              </a:ext>
            </a:extLst>
          </p:cNvPr>
          <p:cNvSpPr txBox="1"/>
          <p:nvPr/>
        </p:nvSpPr>
        <p:spPr>
          <a:xfrm>
            <a:off x="4948216" y="216649"/>
            <a:ext cx="35433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0070C0"/>
                </a:solidFill>
              </a:rPr>
              <a:t>КОМАНДА ЦЕНТРА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DAF65E-20E2-855A-6919-F755C5D55CB8}"/>
              </a:ext>
            </a:extLst>
          </p:cNvPr>
          <p:cNvSpPr txBox="1"/>
          <p:nvPr/>
        </p:nvSpPr>
        <p:spPr>
          <a:xfrm>
            <a:off x="4860964" y="1019431"/>
            <a:ext cx="7951394" cy="5224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/>
              <a:t>ЛЮДМИЛА КОЛОКОЛЬЧИКОВА</a:t>
            </a:r>
          </a:p>
          <a:p>
            <a:pPr>
              <a:lnSpc>
                <a:spcPct val="150000"/>
              </a:lnSpc>
            </a:pPr>
            <a:r>
              <a:rPr lang="ru-RU" sz="1600" dirty="0"/>
              <a:t>директор Нижегородского Кадрового Центра «Работа России» (до 2026 г), </a:t>
            </a:r>
          </a:p>
          <a:p>
            <a:pPr>
              <a:lnSpc>
                <a:spcPct val="150000"/>
              </a:lnSpc>
            </a:pPr>
            <a:r>
              <a:rPr lang="ru-RU" sz="1600" dirty="0"/>
              <a:t>директор ЦОПП-НО (до 2024г)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/>
              <a:t>HR-стратег федерального уровня, который соединяет образование, бизнес и государство.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/>
              <a:t>Охват профориентации - 50 000+ чел/год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/>
              <a:t>Координация центров карьеры 73 колледжей (64 000 студентов)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/>
              <a:t>Разработала 52 аналитических отчета по регионам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/>
              <a:t>Внедрила систему подбора через ценности (более 10 000 участников в тестировании)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/>
              <a:t>Управляла штатом до 16 000 чел в международном холдинге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/>
              <a:t>Разработала авторские игры «Карьерные кристаллы» и «Генератор </a:t>
            </a:r>
            <a:r>
              <a:rPr lang="ru-RU" sz="1600" dirty="0" err="1"/>
              <a:t>профстандартов</a:t>
            </a:r>
            <a:r>
              <a:rPr lang="ru-RU" sz="1600" dirty="0"/>
              <a:t>»</a:t>
            </a:r>
          </a:p>
          <a:p>
            <a:pPr>
              <a:lnSpc>
                <a:spcPct val="150000"/>
              </a:lnSpc>
            </a:pPr>
            <a:endParaRPr lang="ru-RU" sz="1600" dirty="0"/>
          </a:p>
          <a:p>
            <a:pPr>
              <a:lnSpc>
                <a:spcPct val="150000"/>
              </a:lnSpc>
            </a:pPr>
            <a:r>
              <a:rPr lang="ru-RU" sz="1600" b="1" dirty="0"/>
              <a:t>Ценность эксперта: </a:t>
            </a:r>
          </a:p>
          <a:p>
            <a:pPr>
              <a:lnSpc>
                <a:spcPct val="150000"/>
              </a:lnSpc>
            </a:pPr>
            <a:r>
              <a:rPr lang="ru-RU" sz="1600" b="1" dirty="0"/>
              <a:t>Переводит кадровые задачи на язык бизнес-результатов и цифр</a:t>
            </a:r>
            <a:endParaRPr lang="ru-RU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AAD3345-6DEF-B96D-A70D-D4787C657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13" y="1288372"/>
            <a:ext cx="3344961" cy="501691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 descr="Целевая аудитория">
            <a:extLst>
              <a:ext uri="{FF2B5EF4-FFF2-40B4-BE49-F238E27FC236}">
                <a16:creationId xmlns:a16="http://schemas.microsoft.com/office/drawing/2014/main" id="{FEFE230A-5921-5683-A034-49DDB7A3F0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59376" y="2042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85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FFFFC-BB68-4FC0-8EA9-E1DE204FD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157B47-FBC9-1FB1-0F25-68EE4E9864BF}"/>
              </a:ext>
            </a:extLst>
          </p:cNvPr>
          <p:cNvSpPr txBox="1"/>
          <p:nvPr/>
        </p:nvSpPr>
        <p:spPr>
          <a:xfrm>
            <a:off x="4948216" y="216649"/>
            <a:ext cx="35433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0070C0"/>
                </a:solidFill>
              </a:rPr>
              <a:t>КОМАНДА ЦЕНТРА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54FE79B-9165-EAD2-8F74-CFD432474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2" t="12084" r="9927"/>
          <a:stretch>
            <a:fillRect/>
          </a:stretch>
        </p:blipFill>
        <p:spPr>
          <a:xfrm>
            <a:off x="971661" y="1870105"/>
            <a:ext cx="3225440" cy="438226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1332FE0-84FE-0EBE-B3B8-6C9F878C133E}"/>
              </a:ext>
            </a:extLst>
          </p:cNvPr>
          <p:cNvSpPr txBox="1"/>
          <p:nvPr/>
        </p:nvSpPr>
        <p:spPr>
          <a:xfrm>
            <a:off x="4561242" y="1728057"/>
            <a:ext cx="806823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ВИКТОРИЯ РОМАНЕНКО</a:t>
            </a:r>
          </a:p>
          <a:p>
            <a:r>
              <a:rPr lang="ru-RU" sz="1600" dirty="0"/>
              <a:t>предприниматель, управленец, совладелец сети производственных предприятий изготовления полуфабрикатов и точек общественного питания (до 2020 года) </a:t>
            </a:r>
          </a:p>
          <a:p>
            <a:endParaRPr lang="ru-RU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/>
              <a:t>организационный психолог, диагност, специалист по бережливым технологиям, тренер управленческих команд, мастер форматов групповой работы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/>
              <a:t>собрала и обучила более 90 успешных команд в предприятиях производства, сферы услуг и ЖКХ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/>
              <a:t>ТОП 10 среди участников всероссийского конкурса «Мастер бизнес-обучения 2026»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/>
              <a:t>автор книги «</a:t>
            </a:r>
            <a:r>
              <a:rPr lang="en-US" sz="1600" dirty="0"/>
              <a:t>#</a:t>
            </a:r>
            <a:r>
              <a:rPr lang="ru-RU" sz="1600" dirty="0"/>
              <a:t>НЕУЧЕБНИК о важности команды в любом деле»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/>
              <a:t>соавтор федеральных образовательных программ МУ «СЕНЕЖ», в т.ч. по внедрению бережливых технологий (провела образовательную программу для делегации Верховной Народной Прокуратуры КНР)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/>
              <a:t>выпускница первого потока Школы тренеров команд МУ «СЕНЕЖ» и полуфиналист конкурса «Лидеры России Команда» (2026 г)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/>
              <a:t>эксперт, организатор и модератор федеральных проектов</a:t>
            </a:r>
          </a:p>
          <a:p>
            <a:endParaRPr lang="ru-RU" sz="1600" dirty="0"/>
          </a:p>
          <a:p>
            <a:r>
              <a:rPr lang="ru-RU" sz="1600" b="1" dirty="0"/>
              <a:t>Ценность эксперта: </a:t>
            </a:r>
          </a:p>
          <a:p>
            <a:r>
              <a:rPr lang="ru-RU" sz="1600" b="1" dirty="0" err="1"/>
              <a:t>бесшовно</a:t>
            </a:r>
            <a:r>
              <a:rPr lang="ru-RU" sz="1600" b="1" dirty="0"/>
              <a:t> внедряет изменения на предприятии и усиливает человеческий капитал</a:t>
            </a:r>
          </a:p>
        </p:txBody>
      </p:sp>
      <p:pic>
        <p:nvPicPr>
          <p:cNvPr id="3" name="Рисунок 2" descr="Целевая аудитория">
            <a:extLst>
              <a:ext uri="{FF2B5EF4-FFF2-40B4-BE49-F238E27FC236}">
                <a16:creationId xmlns:a16="http://schemas.microsoft.com/office/drawing/2014/main" id="{D92C4A9A-8954-CCDC-875B-5255110A5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59376" y="2042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73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0EC7B-7007-A6CE-9D3B-3741403B8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C9637B-F8A4-D63D-2DAA-985294645031}"/>
              </a:ext>
            </a:extLst>
          </p:cNvPr>
          <p:cNvSpPr txBox="1"/>
          <p:nvPr/>
        </p:nvSpPr>
        <p:spPr>
          <a:xfrm>
            <a:off x="2594379" y="213444"/>
            <a:ext cx="84423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0070C0"/>
                </a:solidFill>
              </a:rPr>
              <a:t>ПОРТФОЛИО и КОНТАКТЫ ЭКСПЕРТОВ ЦЕНТРА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0E2DD-9384-4DBB-A062-082DC6C079E4}"/>
              </a:ext>
            </a:extLst>
          </p:cNvPr>
          <p:cNvSpPr txBox="1"/>
          <p:nvPr/>
        </p:nvSpPr>
        <p:spPr>
          <a:xfrm>
            <a:off x="3045070" y="1037741"/>
            <a:ext cx="38828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/>
              <a:t>ЛЮБОВЬ СИРОТКИНА</a:t>
            </a:r>
          </a:p>
          <a:p>
            <a:r>
              <a:rPr lang="ru-RU" sz="2800" b="1" dirty="0">
                <a:solidFill>
                  <a:srgbClr val="0070C0"/>
                </a:solidFill>
              </a:rPr>
              <a:t>8-910-137-93-00</a:t>
            </a:r>
            <a:r>
              <a:rPr lang="ru-RU" sz="2800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1E7CDA-505E-8A8E-10DE-FFB7EBACB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78" y="1118651"/>
            <a:ext cx="1878365" cy="281864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C99A00-7BDE-98F6-CF65-EEF076901AE7}"/>
              </a:ext>
            </a:extLst>
          </p:cNvPr>
          <p:cNvSpPr txBox="1"/>
          <p:nvPr/>
        </p:nvSpPr>
        <p:spPr>
          <a:xfrm>
            <a:off x="9317154" y="954776"/>
            <a:ext cx="32501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ЛЮДМИЛА КОЛОКОЛЬЧИКОВА</a:t>
            </a:r>
          </a:p>
          <a:p>
            <a:r>
              <a:rPr lang="ru-RU" sz="2800" b="1" dirty="0">
                <a:solidFill>
                  <a:srgbClr val="0070C0"/>
                </a:solidFill>
              </a:rPr>
              <a:t>8-910-317-74-45</a:t>
            </a:r>
            <a:r>
              <a:rPr lang="ru-RU" sz="1400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6943F1-F9F9-C637-8903-000B2B17C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538" y="947737"/>
            <a:ext cx="2125032" cy="315578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5330C35-1A47-D4F5-0ECD-450747F274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2" t="12084" r="9927"/>
          <a:stretch>
            <a:fillRect/>
          </a:stretch>
        </p:blipFill>
        <p:spPr>
          <a:xfrm>
            <a:off x="3614748" y="4385216"/>
            <a:ext cx="2119079" cy="287910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1DE299-C15B-85C1-1603-40903796679E}"/>
              </a:ext>
            </a:extLst>
          </p:cNvPr>
          <p:cNvSpPr txBox="1"/>
          <p:nvPr/>
        </p:nvSpPr>
        <p:spPr>
          <a:xfrm>
            <a:off x="6004079" y="4435939"/>
            <a:ext cx="61950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ВИКТОРИЯ РОМАНЕНКО</a:t>
            </a:r>
          </a:p>
          <a:p>
            <a:r>
              <a:rPr lang="ru-RU" sz="2800" b="1" dirty="0">
                <a:solidFill>
                  <a:srgbClr val="0070C0"/>
                </a:solidFill>
              </a:rPr>
              <a:t>8-951-908-04-44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06774-AB7A-E6DA-8125-CD44719A63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611" y="1866409"/>
            <a:ext cx="2125032" cy="212503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277B3D-602F-E095-FC26-EFB530AEE5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154" y="1747582"/>
            <a:ext cx="2243859" cy="224385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255C105-EAA9-DC43-AA23-43A6A737B0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079" y="5153656"/>
            <a:ext cx="2110662" cy="211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29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5472</TotalTime>
  <Words>824</Words>
  <Application>Microsoft Office PowerPoint</Application>
  <PresentationFormat>Произвольный</PresentationFormat>
  <Paragraphs>113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Lenovo</cp:lastModifiedBy>
  <cp:revision>102</cp:revision>
  <dcterms:created xsi:type="dcterms:W3CDTF">2009-04-16T11:32:32Z</dcterms:created>
  <dcterms:modified xsi:type="dcterms:W3CDTF">2026-06-22T13:48:55Z</dcterms:modified>
</cp:coreProperties>
</file>